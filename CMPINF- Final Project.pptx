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oppins"/>
      <p:regular r:id="rId17"/>
      <p:bold r:id="rId18"/>
      <p:italic r:id="rId19"/>
      <p:boldItalic r:id="rId20"/>
    </p:embeddedFont>
    <p:embeddedFont>
      <p:font typeface="Poppins Medium"/>
      <p:regular r:id="rId21"/>
      <p:bold r:id="rId22"/>
      <p:italic r:id="rId23"/>
      <p:boldItalic r:id="rId24"/>
    </p:embeddedFont>
    <p:embeddedFont>
      <p:font typeface="Nunito Sans SemiBold"/>
      <p:regular r:id="rId25"/>
      <p:bold r:id="rId26"/>
      <p:italic r:id="rId27"/>
      <p:boldItalic r:id="rId28"/>
    </p:embeddedFont>
    <p:embeddedFont>
      <p:font typeface="Poppins SemiBold"/>
      <p:regular r:id="rId29"/>
      <p:bold r:id="rId30"/>
      <p:italic r:id="rId31"/>
      <p:boldItalic r:id="rId32"/>
    </p:embeddedFont>
    <p:embeddedFont>
      <p:font typeface="Nunito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PoppinsMedium-bold.fntdata"/><Relationship Id="rId21" Type="http://schemas.openxmlformats.org/officeDocument/2006/relationships/font" Target="fonts/PoppinsMedium-regular.fntdata"/><Relationship Id="rId24" Type="http://schemas.openxmlformats.org/officeDocument/2006/relationships/font" Target="fonts/PoppinsMedium-boldItalic.fntdata"/><Relationship Id="rId23" Type="http://schemas.openxmlformats.org/officeDocument/2006/relationships/font" Target="fonts/Poppins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SansSemiBold-bold.fntdata"/><Relationship Id="rId25" Type="http://schemas.openxmlformats.org/officeDocument/2006/relationships/font" Target="fonts/NunitoSansSemiBold-regular.fntdata"/><Relationship Id="rId28" Type="http://schemas.openxmlformats.org/officeDocument/2006/relationships/font" Target="fonts/NunitoSansSemiBold-boldItalic.fntdata"/><Relationship Id="rId27" Type="http://schemas.openxmlformats.org/officeDocument/2006/relationships/font" Target="fonts/NunitoSansSemi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SemiBold-italic.fntdata"/><Relationship Id="rId30" Type="http://schemas.openxmlformats.org/officeDocument/2006/relationships/font" Target="fonts/PoppinsSemiBold-bold.fntdata"/><Relationship Id="rId11" Type="http://schemas.openxmlformats.org/officeDocument/2006/relationships/slide" Target="slides/slide6.xml"/><Relationship Id="rId33" Type="http://schemas.openxmlformats.org/officeDocument/2006/relationships/font" Target="fonts/NunitoSans-regular.fntdata"/><Relationship Id="rId10" Type="http://schemas.openxmlformats.org/officeDocument/2006/relationships/slide" Target="slides/slide5.xml"/><Relationship Id="rId32" Type="http://schemas.openxmlformats.org/officeDocument/2006/relationships/font" Target="fonts/PoppinsSemiBold-boldItalic.fntdata"/><Relationship Id="rId13" Type="http://schemas.openxmlformats.org/officeDocument/2006/relationships/slide" Target="slides/slide8.xml"/><Relationship Id="rId35" Type="http://schemas.openxmlformats.org/officeDocument/2006/relationships/font" Target="fonts/NunitoSans-italic.fntdata"/><Relationship Id="rId12" Type="http://schemas.openxmlformats.org/officeDocument/2006/relationships/slide" Target="slides/slide7.xml"/><Relationship Id="rId34" Type="http://schemas.openxmlformats.org/officeDocument/2006/relationships/font" Target="fonts/NunitoSans-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NunitoSans-boldItalic.fntdata"/><Relationship Id="rId17" Type="http://schemas.openxmlformats.org/officeDocument/2006/relationships/font" Target="fonts/Poppins-regular.fntdata"/><Relationship Id="rId16" Type="http://schemas.openxmlformats.org/officeDocument/2006/relationships/slide" Target="slides/slide11.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aab233d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daab233d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daab233de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daab233de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daab233de5_0_1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daab233de5_0_1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aab233de5_0_1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aab233de5_0_1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daf9d3af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daf9d3af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daf9d3afe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daf9d3afe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daf9d3afe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daf9d3afe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9a647c29e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9a647c29e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daab233de5_0_1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daab233de5_0_1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daab233de5_0_1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daab233de5_0_1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daab233de5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daab233de5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12" name="Google Shape;12;p2"/>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13" name="Google Shape;13;p2"/>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14" name="Google Shape;14;p2"/>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5" name="Google Shape;15;p2"/>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0" name="Google Shape;20;p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21" name="Google Shape;21;p3"/>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22" name="Google Shape;22;p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6" name="Google Shape;26;p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8" name="Google Shape;28;p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29" name="Shape 29"/>
        <p:cNvGrpSpPr/>
        <p:nvPr/>
      </p:nvGrpSpPr>
      <p:grpSpPr>
        <a:xfrm>
          <a:off x="0" y="0"/>
          <a:ext cx="0" cy="0"/>
          <a:chOff x="0" y="0"/>
          <a:chExt cx="0" cy="0"/>
        </a:xfrm>
      </p:grpSpPr>
      <p:sp>
        <p:nvSpPr>
          <p:cNvPr id="30" name="Google Shape;30;p5"/>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31" name="Google Shape;31;p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 name="Google Shape;32;p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p:nvPr>
            <p:ph idx="2" type="pic"/>
          </p:nvPr>
        </p:nvSpPr>
        <p:spPr>
          <a:xfrm>
            <a:off x="1208525" y="1164275"/>
            <a:ext cx="1115700" cy="1118100"/>
          </a:xfrm>
          <a:prstGeom prst="roundRect">
            <a:avLst>
              <a:gd fmla="val 16667" name="adj"/>
            </a:avLst>
          </a:prstGeom>
          <a:noFill/>
          <a:ln>
            <a:noFill/>
          </a:ln>
        </p:spPr>
      </p:sp>
      <p:sp>
        <p:nvSpPr>
          <p:cNvPr id="34" name="Google Shape;34;p5"/>
          <p:cNvSpPr/>
          <p:nvPr>
            <p:ph idx="3" type="pic"/>
          </p:nvPr>
        </p:nvSpPr>
        <p:spPr>
          <a:xfrm>
            <a:off x="3079163" y="1164275"/>
            <a:ext cx="1115700" cy="1118100"/>
          </a:xfrm>
          <a:prstGeom prst="roundRect">
            <a:avLst>
              <a:gd fmla="val 16667" name="adj"/>
            </a:avLst>
          </a:prstGeom>
          <a:noFill/>
          <a:ln>
            <a:noFill/>
          </a:ln>
        </p:spPr>
      </p:sp>
      <p:sp>
        <p:nvSpPr>
          <p:cNvPr id="35" name="Google Shape;35;p5"/>
          <p:cNvSpPr/>
          <p:nvPr>
            <p:ph idx="4" type="pic"/>
          </p:nvPr>
        </p:nvSpPr>
        <p:spPr>
          <a:xfrm>
            <a:off x="4949788" y="1164275"/>
            <a:ext cx="1115700" cy="1118100"/>
          </a:xfrm>
          <a:prstGeom prst="roundRect">
            <a:avLst>
              <a:gd fmla="val 16667" name="adj"/>
            </a:avLst>
          </a:prstGeom>
          <a:noFill/>
          <a:ln>
            <a:noFill/>
          </a:ln>
        </p:spPr>
      </p:sp>
      <p:sp>
        <p:nvSpPr>
          <p:cNvPr id="36" name="Google Shape;36;p5"/>
          <p:cNvSpPr/>
          <p:nvPr>
            <p:ph idx="5" type="pic"/>
          </p:nvPr>
        </p:nvSpPr>
        <p:spPr>
          <a:xfrm>
            <a:off x="6820413" y="1164275"/>
            <a:ext cx="1115700" cy="1118100"/>
          </a:xfrm>
          <a:prstGeom prst="roundRect">
            <a:avLst>
              <a:gd fmla="val 16667" name="adj"/>
            </a:avLst>
          </a:prstGeom>
          <a:noFill/>
          <a:ln>
            <a:noFill/>
          </a:ln>
        </p:spPr>
      </p:sp>
      <p:sp>
        <p:nvSpPr>
          <p:cNvPr id="37" name="Google Shape;37;p5"/>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38" name="Google Shape;38;p5"/>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39" name="Google Shape;39;p5"/>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0" name="Google Shape;40;p5"/>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1" name="Google Shape;41;p5"/>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2" name="Google Shape;42;p5"/>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3" name="Google Shape;43;p5"/>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4" name="Google Shape;44;p5"/>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5" name="Google Shape;45;p5"/>
          <p:cNvSpPr/>
          <p:nvPr>
            <p:ph idx="16" type="pic"/>
          </p:nvPr>
        </p:nvSpPr>
        <p:spPr>
          <a:xfrm>
            <a:off x="3079163" y="2958825"/>
            <a:ext cx="1115700" cy="1118100"/>
          </a:xfrm>
          <a:prstGeom prst="roundRect">
            <a:avLst>
              <a:gd fmla="val 16667" name="adj"/>
            </a:avLst>
          </a:prstGeom>
          <a:noFill/>
          <a:ln>
            <a:noFill/>
          </a:ln>
        </p:spPr>
      </p:sp>
      <p:sp>
        <p:nvSpPr>
          <p:cNvPr id="46" name="Google Shape;46;p5"/>
          <p:cNvSpPr/>
          <p:nvPr>
            <p:ph idx="17" type="pic"/>
          </p:nvPr>
        </p:nvSpPr>
        <p:spPr>
          <a:xfrm>
            <a:off x="4949788" y="2958825"/>
            <a:ext cx="1115700" cy="1118100"/>
          </a:xfrm>
          <a:prstGeom prst="roundRect">
            <a:avLst>
              <a:gd fmla="val 16667" name="adj"/>
            </a:avLst>
          </a:prstGeom>
          <a:noFill/>
          <a:ln>
            <a:noFill/>
          </a:ln>
        </p:spPr>
      </p:sp>
      <p:sp>
        <p:nvSpPr>
          <p:cNvPr id="47" name="Google Shape;47;p5"/>
          <p:cNvSpPr/>
          <p:nvPr>
            <p:ph idx="18" type="pic"/>
          </p:nvPr>
        </p:nvSpPr>
        <p:spPr>
          <a:xfrm>
            <a:off x="6820413" y="2958825"/>
            <a:ext cx="1115700" cy="1118100"/>
          </a:xfrm>
          <a:prstGeom prst="roundRect">
            <a:avLst>
              <a:gd fmla="val 16667" name="adj"/>
            </a:avLst>
          </a:prstGeom>
          <a:noFill/>
          <a:ln>
            <a:noFill/>
          </a:ln>
        </p:spPr>
      </p:sp>
      <p:sp>
        <p:nvSpPr>
          <p:cNvPr id="48" name="Google Shape;48;p5"/>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9" name="Google Shape;49;p5"/>
          <p:cNvSpPr/>
          <p:nvPr>
            <p:ph idx="20" type="pic"/>
          </p:nvPr>
        </p:nvSpPr>
        <p:spPr>
          <a:xfrm>
            <a:off x="1208550" y="2958825"/>
            <a:ext cx="1115700" cy="1118100"/>
          </a:xfrm>
          <a:prstGeom prst="roundRect">
            <a:avLst>
              <a:gd fmla="val 16667" name="adj"/>
            </a:avLst>
          </a:prstGeom>
          <a:noFill/>
          <a:ln>
            <a:noFill/>
          </a:ln>
        </p:spPr>
      </p:sp>
      <p:sp>
        <p:nvSpPr>
          <p:cNvPr id="50" name="Google Shape;50;p5"/>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1" name="Google Shape;51;p5"/>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2" name="Google Shape;52;p5"/>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3" name="Google Shape;53;p5"/>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4" name="Google Shape;54;p5"/>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5" name="Google Shape;55;p5"/>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 name="Google Shape;56;p5"/>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 name="Google Shape;57;p5"/>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58" name="Shape 58"/>
        <p:cNvGrpSpPr/>
        <p:nvPr/>
      </p:nvGrpSpPr>
      <p:grpSpPr>
        <a:xfrm>
          <a:off x="0" y="0"/>
          <a:ext cx="0" cy="0"/>
          <a:chOff x="0" y="0"/>
          <a:chExt cx="0" cy="0"/>
        </a:xfrm>
      </p:grpSpPr>
      <p:sp>
        <p:nvSpPr>
          <p:cNvPr id="59" name="Google Shape;59;p6"/>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0" name="Google Shape;60;p6"/>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1" name="Google Shape;61;p6"/>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2" name="Google Shape;62;p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63" name="Google Shape;63;p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p:nvPr>
            <p:ph idx="3" type="pic"/>
          </p:nvPr>
        </p:nvSpPr>
        <p:spPr>
          <a:xfrm>
            <a:off x="988450" y="2967538"/>
            <a:ext cx="1264200" cy="1258500"/>
          </a:xfrm>
          <a:prstGeom prst="roundRect">
            <a:avLst>
              <a:gd fmla="val 16718" name="adj"/>
            </a:avLst>
          </a:prstGeom>
          <a:noFill/>
          <a:ln>
            <a:noFill/>
          </a:ln>
        </p:spPr>
      </p:sp>
      <p:sp>
        <p:nvSpPr>
          <p:cNvPr id="65" name="Google Shape;65;p6"/>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6" name="Google Shape;66;p6"/>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7" name="Google Shape;67;p6"/>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8" name="Google Shape;68;p6"/>
          <p:cNvSpPr/>
          <p:nvPr>
            <p:ph idx="7" type="pic"/>
          </p:nvPr>
        </p:nvSpPr>
        <p:spPr>
          <a:xfrm>
            <a:off x="4685500" y="1169975"/>
            <a:ext cx="1264200" cy="1258500"/>
          </a:xfrm>
          <a:prstGeom prst="roundRect">
            <a:avLst>
              <a:gd fmla="val 16718" name="adj"/>
            </a:avLst>
          </a:prstGeom>
          <a:noFill/>
          <a:ln>
            <a:noFill/>
          </a:ln>
        </p:spPr>
      </p:sp>
      <p:sp>
        <p:nvSpPr>
          <p:cNvPr id="69" name="Google Shape;69;p6"/>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0" name="Google Shape;70;p6"/>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1" name="Google Shape;71;p6"/>
          <p:cNvSpPr/>
          <p:nvPr>
            <p:ph idx="13" type="pic"/>
          </p:nvPr>
        </p:nvSpPr>
        <p:spPr>
          <a:xfrm>
            <a:off x="4685500" y="2967538"/>
            <a:ext cx="1264200" cy="1258500"/>
          </a:xfrm>
          <a:prstGeom prst="roundRect">
            <a:avLst>
              <a:gd fmla="val 16718" name="adj"/>
            </a:avLst>
          </a:prstGeom>
          <a:noFill/>
          <a:ln>
            <a:noFill/>
          </a:ln>
        </p:spPr>
      </p:sp>
      <p:sp>
        <p:nvSpPr>
          <p:cNvPr id="72" name="Google Shape;72;p6"/>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3" name="Google Shape;73;p6"/>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4" name="Google Shape;74;p6"/>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75" name="Google Shape;75;p6"/>
          <p:cNvSpPr/>
          <p:nvPr>
            <p:ph idx="17" type="pic"/>
          </p:nvPr>
        </p:nvSpPr>
        <p:spPr>
          <a:xfrm>
            <a:off x="988450" y="1169975"/>
            <a:ext cx="1264200" cy="1258500"/>
          </a:xfrm>
          <a:prstGeom prst="roundRect">
            <a:avLst>
              <a:gd fmla="val 16718" name="adj"/>
            </a:avLst>
          </a:prstGeom>
          <a:noFill/>
          <a:ln>
            <a:noFill/>
          </a:ln>
        </p:spPr>
      </p:sp>
      <p:sp>
        <p:nvSpPr>
          <p:cNvPr id="76" name="Google Shape;76;p6"/>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7" name="Google Shape;77;p6"/>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8" name="Google Shape;78;p6"/>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79" name="Shape 79"/>
        <p:cNvGrpSpPr/>
        <p:nvPr/>
      </p:nvGrpSpPr>
      <p:grpSpPr>
        <a:xfrm>
          <a:off x="0" y="0"/>
          <a:ext cx="0" cy="0"/>
          <a:chOff x="0" y="0"/>
          <a:chExt cx="0" cy="0"/>
        </a:xfrm>
      </p:grpSpPr>
      <p:sp>
        <p:nvSpPr>
          <p:cNvPr id="80" name="Google Shape;80;p7"/>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81" name="Google Shape;81;p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83" name="Google Shape;83;p7"/>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84"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89" name="Google Shape;89;p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90" name="Shape 90"/>
        <p:cNvGrpSpPr/>
        <p:nvPr/>
      </p:nvGrpSpPr>
      <p:grpSpPr>
        <a:xfrm>
          <a:off x="0" y="0"/>
          <a:ext cx="0" cy="0"/>
          <a:chOff x="0" y="0"/>
          <a:chExt cx="0" cy="0"/>
        </a:xfrm>
      </p:grpSpPr>
      <p:sp>
        <p:nvSpPr>
          <p:cNvPr id="91" name="Google Shape;91;p9"/>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92" name="Google Shape;92;p9"/>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93" name="Google Shape;93;p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95"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97" name="Google Shape;97;p1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98" name="Google Shape;98;p10"/>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00"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02" name="Google Shape;102;p11"/>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3" name="Google Shape;103;p11"/>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4" name="Google Shape;104;p11"/>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5" name="Google Shape;105;p11"/>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6" name="Google Shape;106;p11"/>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7" name="Google Shape;107;p11"/>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08" name="Google Shape;108;p11"/>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09" name="Google Shape;109;p11"/>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0" name="Google Shape;110;p11"/>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1" name="Google Shape;111;p11"/>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2" name="Google Shape;112;p11"/>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3" name="Google Shape;113;p11"/>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4" name="Google Shape;114;p11"/>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5" name="Google Shape;115;p11"/>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16" name="Google Shape;116;p1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8" name="Google Shape;118;p11"/>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9" name="Google Shape;119;p11"/>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0" name="Google Shape;120;p11"/>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1" name="Google Shape;121;p11"/>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2" name="Google Shape;122;p11"/>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3" name="Google Shape;123;p11"/>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24"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26" name="Google Shape;126;p12"/>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28" name="Google Shape;128;p12"/>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30" name="Google Shape;130;p12"/>
          <p:cNvSpPr/>
          <p:nvPr>
            <p:ph idx="2" type="pic"/>
          </p:nvPr>
        </p:nvSpPr>
        <p:spPr>
          <a:xfrm>
            <a:off x="5212300" y="460300"/>
            <a:ext cx="3702900" cy="4136100"/>
          </a:xfrm>
          <a:prstGeom prst="roundRect">
            <a:avLst>
              <a:gd fmla="val 6865" name="adj"/>
            </a:avLst>
          </a:prstGeom>
          <a:noFill/>
          <a:ln>
            <a:noFill/>
          </a:ln>
        </p:spPr>
      </p:sp>
      <p:sp>
        <p:nvSpPr>
          <p:cNvPr id="131" name="Google Shape;131;p12"/>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32" name="Google Shape;132;p12"/>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35"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0" name="Google Shape;140;p13"/>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42" name="Google Shape;142;p13"/>
          <p:cNvSpPr/>
          <p:nvPr>
            <p:ph idx="2" type="pic"/>
          </p:nvPr>
        </p:nvSpPr>
        <p:spPr>
          <a:xfrm>
            <a:off x="5212300" y="460300"/>
            <a:ext cx="3702900" cy="4136100"/>
          </a:xfrm>
          <a:prstGeom prst="roundRect">
            <a:avLst>
              <a:gd fmla="val 6865" name="adj"/>
            </a:avLst>
          </a:prstGeom>
          <a:noFill/>
          <a:ln>
            <a:noFill/>
          </a:ln>
        </p:spPr>
      </p:sp>
      <p:sp>
        <p:nvSpPr>
          <p:cNvPr id="143" name="Google Shape;143;p13"/>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44" name="Google Shape;144;p13"/>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47"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51" name="Google Shape;151;p1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53" name="Google Shape;153;p14"/>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54" name="Google Shape;154;p14"/>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5" name="Google Shape;155;p14"/>
          <p:cNvSpPr/>
          <p:nvPr>
            <p:ph idx="2" type="pic"/>
          </p:nvPr>
        </p:nvSpPr>
        <p:spPr>
          <a:xfrm>
            <a:off x="313800" y="460300"/>
            <a:ext cx="3702900" cy="4136100"/>
          </a:xfrm>
          <a:prstGeom prst="roundRect">
            <a:avLst>
              <a:gd fmla="val 6865" name="adj"/>
            </a:avLst>
          </a:prstGeom>
          <a:noFill/>
          <a:ln>
            <a:noFill/>
          </a:ln>
        </p:spPr>
      </p:sp>
      <p:sp>
        <p:nvSpPr>
          <p:cNvPr id="156" name="Google Shape;156;p14"/>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159"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4" name="Google Shape;164;p1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165" name="Google Shape;165;p15"/>
          <p:cNvSpPr/>
          <p:nvPr>
            <p:ph idx="2" type="pic"/>
          </p:nvPr>
        </p:nvSpPr>
        <p:spPr>
          <a:xfrm>
            <a:off x="5212300" y="460300"/>
            <a:ext cx="3702900" cy="4136100"/>
          </a:xfrm>
          <a:prstGeom prst="roundRect">
            <a:avLst>
              <a:gd fmla="val 6865" name="adj"/>
            </a:avLst>
          </a:prstGeom>
          <a:noFill/>
          <a:ln>
            <a:noFill/>
          </a:ln>
        </p:spPr>
      </p:sp>
      <p:sp>
        <p:nvSpPr>
          <p:cNvPr id="166" name="Google Shape;166;p1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7" name="Google Shape;167;p15"/>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170" name="Shape 170"/>
        <p:cNvGrpSpPr/>
        <p:nvPr/>
      </p:nvGrpSpPr>
      <p:grpSpPr>
        <a:xfrm>
          <a:off x="0" y="0"/>
          <a:ext cx="0" cy="0"/>
          <a:chOff x="0" y="0"/>
          <a:chExt cx="0" cy="0"/>
        </a:xfrm>
      </p:grpSpPr>
      <p:sp>
        <p:nvSpPr>
          <p:cNvPr id="171" name="Google Shape;171;p16"/>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2" name="Google Shape;172;p16"/>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3" name="Google Shape;173;p16"/>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4" name="Google Shape;174;p16"/>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175" name="Google Shape;175;p16"/>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6" name="Google Shape;176;p16"/>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7" name="Google Shape;177;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8" name="Google Shape;178;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180"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182" name="Google Shape;182;p17"/>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183" name="Google Shape;183;p17"/>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4" name="Google Shape;184;p17"/>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5" name="Google Shape;185;p17"/>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186" name="Google Shape;186;p17"/>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187" name="Google Shape;187;p17"/>
          <p:cNvSpPr/>
          <p:nvPr>
            <p:ph idx="5" type="pic"/>
          </p:nvPr>
        </p:nvSpPr>
        <p:spPr>
          <a:xfrm>
            <a:off x="309350" y="1425725"/>
            <a:ext cx="1409700" cy="1409700"/>
          </a:xfrm>
          <a:prstGeom prst="roundRect">
            <a:avLst>
              <a:gd fmla="val 16667" name="adj"/>
            </a:avLst>
          </a:prstGeom>
          <a:noFill/>
          <a:ln>
            <a:noFill/>
          </a:ln>
        </p:spPr>
      </p:sp>
      <p:pic>
        <p:nvPicPr>
          <p:cNvPr id="188" name="Google Shape;188;p17"/>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189" name="Google Shape;189;p17"/>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90" name="Google Shape;190;p17"/>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193"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195" name="Google Shape;195;p18"/>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6" name="Google Shape;196;p18"/>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7" name="Google Shape;197;p18"/>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8" name="Google Shape;198;p18"/>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9" name="Google Shape;199;p18"/>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0" name="Google Shape;200;p18"/>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1" name="Google Shape;201;p18"/>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2" name="Google Shape;202;p18"/>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3" name="Google Shape;203;p18"/>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4" name="Google Shape;204;p18"/>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05" name="Google Shape;205;p18"/>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6" name="Google Shape;206;p18"/>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7" name="Google Shape;207;p18"/>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8" name="Google Shape;208;p18"/>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9" name="Google Shape;209;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0" name="Google Shape;210;p18"/>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1" name="Google Shape;211;p18"/>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2" name="Google Shape;212;p18"/>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3" name="Google Shape;213;p18"/>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4" name="Google Shape;214;p18"/>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5" name="Google Shape;215;p18"/>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6" name="Google Shape;216;p18"/>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18"/>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18"/>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19" name="Google Shape;219;p18"/>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20" name="Google Shape;220;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22"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24" name="Google Shape;224;p19"/>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5" name="Google Shape;225;p19"/>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6" name="Google Shape;226;p19"/>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27" name="Google Shape;227;p19"/>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8" name="Google Shape;228;p19"/>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9" name="Google Shape;229;p19"/>
          <p:cNvSpPr/>
          <p:nvPr>
            <p:ph idx="5" type="pic"/>
          </p:nvPr>
        </p:nvSpPr>
        <p:spPr>
          <a:xfrm>
            <a:off x="309350" y="952800"/>
            <a:ext cx="2754000" cy="1634100"/>
          </a:xfrm>
          <a:prstGeom prst="roundRect">
            <a:avLst>
              <a:gd fmla="val 16667" name="adj"/>
            </a:avLst>
          </a:prstGeom>
          <a:noFill/>
          <a:ln>
            <a:noFill/>
          </a:ln>
        </p:spPr>
      </p:sp>
      <p:sp>
        <p:nvSpPr>
          <p:cNvPr id="230" name="Google Shape;230;p19"/>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1" name="Google Shape;231;p19"/>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19"/>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33" name="Google Shape;233;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5" name="Google Shape;235;p19"/>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36"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38" name="Google Shape;238;p20"/>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39" name="Google Shape;239;p20"/>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40" name="Google Shape;240;p20"/>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41" name="Google Shape;241;p20"/>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2" name="Google Shape;242;p20"/>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3" name="Google Shape;243;p20"/>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4" name="Google Shape;244;p20"/>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5" name="Google Shape;245;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7" name="Google Shape;247;p20"/>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8" name="Google Shape;248;p20"/>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9" name="Google Shape;249;p20"/>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0" name="Google Shape;250;p20"/>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1" name="Google Shape;251;p20"/>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2" name="Google Shape;252;p20"/>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3" name="Google Shape;253;p20"/>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4" name="Google Shape;254;p20"/>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5" name="Google Shape;255;p20"/>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256" name="Google Shape;256;p20"/>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7" name="Google Shape;257;p20"/>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58" name="Google Shape;258;p20"/>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9" name="Google Shape;259;p20"/>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60" name="Google Shape;260;p20"/>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1" name="Google Shape;261;p20"/>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2" name="Google Shape;262;p20"/>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3" name="Google Shape;263;p20"/>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4" name="Google Shape;264;p2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265" name="Shape 265"/>
        <p:cNvGrpSpPr/>
        <p:nvPr/>
      </p:nvGrpSpPr>
      <p:grpSpPr>
        <a:xfrm>
          <a:off x="0" y="0"/>
          <a:ext cx="0" cy="0"/>
          <a:chOff x="0" y="0"/>
          <a:chExt cx="0" cy="0"/>
        </a:xfrm>
      </p:grpSpPr>
      <p:sp>
        <p:nvSpPr>
          <p:cNvPr id="266" name="Google Shape;266;p21"/>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7" name="Google Shape;267;p21"/>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8" name="Google Shape;268;p21"/>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9" name="Google Shape;269;p21"/>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270" name="Google Shape;270;p2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71" name="Google Shape;271;p21"/>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2" name="Google Shape;272;p21"/>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73" name="Google Shape;273;p21"/>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4" name="Google Shape;274;p21"/>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275" name="Google Shape;275;p21"/>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6" name="Google Shape;276;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278"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0" name="Google Shape;280;p22"/>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81" name="Google Shape;281;p22"/>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2" name="Google Shape;282;p22"/>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3" name="Google Shape;283;p22"/>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4" name="Google Shape;284;p22"/>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5" name="Google Shape;285;p22"/>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6" name="Google Shape;286;p22"/>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7" name="Google Shape;287;p22"/>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8" name="Google Shape;288;p22"/>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9" name="Google Shape;289;p22"/>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0" name="Google Shape;290;p22"/>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1" name="Google Shape;291;p22"/>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2" name="Google Shape;292;p2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294" name="Shape 294"/>
        <p:cNvGrpSpPr/>
        <p:nvPr/>
      </p:nvGrpSpPr>
      <p:grpSpPr>
        <a:xfrm>
          <a:off x="0" y="0"/>
          <a:ext cx="0" cy="0"/>
          <a:chOff x="0" y="0"/>
          <a:chExt cx="0" cy="0"/>
        </a:xfrm>
      </p:grpSpPr>
      <p:sp>
        <p:nvSpPr>
          <p:cNvPr id="295" name="Google Shape;295;p23"/>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6" name="Google Shape;296;p23"/>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7" name="Google Shape;297;p23"/>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8" name="Google Shape;298;p23"/>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9" name="Google Shape;299;p23"/>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00" name="Google Shape;300;p23"/>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01" name="Google Shape;301;p23"/>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2" name="Google Shape;302;p23"/>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03" name="Google Shape;303;p23"/>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4" name="Google Shape;304;p23"/>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5" name="Google Shape;305;p2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06" name="Google Shape;306;p23"/>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7" name="Google Shape;307;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09"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14" name="Google Shape;314;p24"/>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5" name="Google Shape;315;p24"/>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16" name="Google Shape;316;p24"/>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7" name="Google Shape;317;p24"/>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8" name="Google Shape;318;p24"/>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19"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23" name="Google Shape;323;p25"/>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24" name="Google Shape;324;p25"/>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25" name="Google Shape;325;p25"/>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26" name="Google Shape;326;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27" name="Shape 327"/>
        <p:cNvGrpSpPr/>
        <p:nvPr/>
      </p:nvGrpSpPr>
      <p:grpSpPr>
        <a:xfrm>
          <a:off x="0" y="0"/>
          <a:ext cx="0" cy="0"/>
          <a:chOff x="0" y="0"/>
          <a:chExt cx="0" cy="0"/>
        </a:xfrm>
      </p:grpSpPr>
      <p:sp>
        <p:nvSpPr>
          <p:cNvPr id="328" name="Google Shape;328;p26"/>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29" name="Shape 329"/>
        <p:cNvGrpSpPr/>
        <p:nvPr/>
      </p:nvGrpSpPr>
      <p:grpSpPr>
        <a:xfrm>
          <a:off x="0" y="0"/>
          <a:ext cx="0" cy="0"/>
          <a:chOff x="0" y="0"/>
          <a:chExt cx="0" cy="0"/>
        </a:xfrm>
      </p:grpSpPr>
      <p:sp>
        <p:nvSpPr>
          <p:cNvPr id="330" name="Google Shape;330;p2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1" name="Google Shape;33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2" name="Shape 332"/>
        <p:cNvGrpSpPr/>
        <p:nvPr/>
      </p:nvGrpSpPr>
      <p:grpSpPr>
        <a:xfrm>
          <a:off x="0" y="0"/>
          <a:ext cx="0" cy="0"/>
          <a:chOff x="0" y="0"/>
          <a:chExt cx="0" cy="0"/>
        </a:xfrm>
      </p:grpSpPr>
      <p:sp>
        <p:nvSpPr>
          <p:cNvPr id="333" name="Google Shape;333;p2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4" name="Google Shape;33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2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38" name="Shape 338"/>
        <p:cNvGrpSpPr/>
        <p:nvPr/>
      </p:nvGrpSpPr>
      <p:grpSpPr>
        <a:xfrm>
          <a:off x="0" y="0"/>
          <a:ext cx="0" cy="0"/>
          <a:chOff x="0" y="0"/>
          <a:chExt cx="0" cy="0"/>
        </a:xfrm>
      </p:grpSpPr>
      <p:sp>
        <p:nvSpPr>
          <p:cNvPr id="339" name="Google Shape;339;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40" name="Google Shape;340;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1" name="Shape 341"/>
        <p:cNvGrpSpPr/>
        <p:nvPr/>
      </p:nvGrpSpPr>
      <p:grpSpPr>
        <a:xfrm>
          <a:off x="0" y="0"/>
          <a:ext cx="0" cy="0"/>
          <a:chOff x="0" y="0"/>
          <a:chExt cx="0" cy="0"/>
        </a:xfrm>
      </p:grpSpPr>
      <p:sp>
        <p:nvSpPr>
          <p:cNvPr id="342" name="Google Shape;342;p3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43" name="Google Shape;343;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44" name="Google Shape;344;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45" name="Shape 345"/>
        <p:cNvGrpSpPr/>
        <p:nvPr/>
      </p:nvGrpSpPr>
      <p:grpSpPr>
        <a:xfrm>
          <a:off x="0" y="0"/>
          <a:ext cx="0" cy="0"/>
          <a:chOff x="0" y="0"/>
          <a:chExt cx="0" cy="0"/>
        </a:xfrm>
      </p:grpSpPr>
      <p:sp>
        <p:nvSpPr>
          <p:cNvPr id="346" name="Google Shape;34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47" name="Shape 347"/>
        <p:cNvGrpSpPr/>
        <p:nvPr/>
      </p:nvGrpSpPr>
      <p:grpSpPr>
        <a:xfrm>
          <a:off x="0" y="0"/>
          <a:ext cx="0" cy="0"/>
          <a:chOff x="0" y="0"/>
          <a:chExt cx="0" cy="0"/>
        </a:xfrm>
      </p:grpSpPr>
      <p:sp>
        <p:nvSpPr>
          <p:cNvPr id="348" name="Google Shape;348;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0"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1" name="Shape 351"/>
        <p:cNvGrpSpPr/>
        <p:nvPr/>
      </p:nvGrpSpPr>
      <p:grpSpPr>
        <a:xfrm>
          <a:off x="0" y="0"/>
          <a:ext cx="0" cy="0"/>
          <a:chOff x="0" y="0"/>
          <a:chExt cx="0" cy="0"/>
        </a:xfrm>
      </p:grpSpPr>
      <p:sp>
        <p:nvSpPr>
          <p:cNvPr id="352" name="Google Shape;352;p35"/>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8" name="Google Shape;358;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59" name="Shape 359"/>
        <p:cNvGrpSpPr/>
        <p:nvPr/>
      </p:nvGrpSpPr>
      <p:grpSpPr>
        <a:xfrm>
          <a:off x="0" y="0"/>
          <a:ext cx="0" cy="0"/>
          <a:chOff x="0" y="0"/>
          <a:chExt cx="0" cy="0"/>
        </a:xfrm>
      </p:grpSpPr>
      <p:sp>
        <p:nvSpPr>
          <p:cNvPr id="360" name="Google Shape;360;p3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1" name="Google Shape;361;p3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2" name="Google Shape;362;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3" name="Shape 363"/>
        <p:cNvGrpSpPr/>
        <p:nvPr/>
      </p:nvGrpSpPr>
      <p:grpSpPr>
        <a:xfrm>
          <a:off x="0" y="0"/>
          <a:ext cx="0" cy="0"/>
          <a:chOff x="0" y="0"/>
          <a:chExt cx="0" cy="0"/>
        </a:xfrm>
      </p:grpSpPr>
      <p:sp>
        <p:nvSpPr>
          <p:cNvPr id="364" name="Google Shape;364;p37"/>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65" name="Google Shape;365;p3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6" name="Google Shape;366;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7" name="Google Shape;367;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69" name="Shape 369"/>
        <p:cNvGrpSpPr/>
        <p:nvPr/>
      </p:nvGrpSpPr>
      <p:grpSpPr>
        <a:xfrm>
          <a:off x="0" y="0"/>
          <a:ext cx="0" cy="0"/>
          <a:chOff x="0" y="0"/>
          <a:chExt cx="0" cy="0"/>
        </a:xfrm>
      </p:grpSpPr>
      <p:sp>
        <p:nvSpPr>
          <p:cNvPr id="370" name="Google Shape;370;p3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1" name="Google Shape;371;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3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3" name="Google Shape;373;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4" name="Google Shape;374;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77" name="Shape 377"/>
        <p:cNvGrpSpPr/>
        <p:nvPr/>
      </p:nvGrpSpPr>
      <p:grpSpPr>
        <a:xfrm>
          <a:off x="0" y="0"/>
          <a:ext cx="0" cy="0"/>
          <a:chOff x="0" y="0"/>
          <a:chExt cx="0" cy="0"/>
        </a:xfrm>
      </p:grpSpPr>
      <p:sp>
        <p:nvSpPr>
          <p:cNvPr id="378" name="Google Shape;378;p3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9"/>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3" name="Google Shape;383;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4" name="Google Shape;384;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87" name="Shape 387"/>
        <p:cNvGrpSpPr/>
        <p:nvPr/>
      </p:nvGrpSpPr>
      <p:grpSpPr>
        <a:xfrm>
          <a:off x="0" y="0"/>
          <a:ext cx="0" cy="0"/>
          <a:chOff x="0" y="0"/>
          <a:chExt cx="0" cy="0"/>
        </a:xfrm>
      </p:grpSpPr>
      <p:sp>
        <p:nvSpPr>
          <p:cNvPr id="388" name="Google Shape;38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89" name="Google Shape;389;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0" name="Shape 390"/>
        <p:cNvGrpSpPr/>
        <p:nvPr/>
      </p:nvGrpSpPr>
      <p:grpSpPr>
        <a:xfrm>
          <a:off x="0" y="0"/>
          <a:ext cx="0" cy="0"/>
          <a:chOff x="0" y="0"/>
          <a:chExt cx="0" cy="0"/>
        </a:xfrm>
      </p:grpSpPr>
      <p:sp>
        <p:nvSpPr>
          <p:cNvPr id="391" name="Google Shape;391;p4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2" name="Google Shape;392;p41"/>
          <p:cNvSpPr/>
          <p:nvPr>
            <p:ph idx="2" type="pic"/>
          </p:nvPr>
        </p:nvSpPr>
        <p:spPr>
          <a:xfrm>
            <a:off x="4804825" y="1133300"/>
            <a:ext cx="4027500" cy="2392800"/>
          </a:xfrm>
          <a:prstGeom prst="rect">
            <a:avLst/>
          </a:prstGeom>
          <a:noFill/>
          <a:ln>
            <a:noFill/>
          </a:ln>
        </p:spPr>
      </p:sp>
      <p:sp>
        <p:nvSpPr>
          <p:cNvPr id="393" name="Google Shape;393;p41"/>
          <p:cNvSpPr/>
          <p:nvPr>
            <p:ph idx="3" type="pic"/>
          </p:nvPr>
        </p:nvSpPr>
        <p:spPr>
          <a:xfrm>
            <a:off x="311725" y="1133300"/>
            <a:ext cx="4027500" cy="2392800"/>
          </a:xfrm>
          <a:prstGeom prst="rect">
            <a:avLst/>
          </a:prstGeom>
          <a:noFill/>
          <a:ln>
            <a:noFill/>
          </a:ln>
        </p:spPr>
      </p:sp>
      <p:sp>
        <p:nvSpPr>
          <p:cNvPr id="394" name="Google Shape;394;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6" name="Google Shape;396;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7" name="Google Shape;397;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98" name="Shape 398"/>
        <p:cNvGrpSpPr/>
        <p:nvPr/>
      </p:nvGrpSpPr>
      <p:grpSpPr>
        <a:xfrm>
          <a:off x="0" y="0"/>
          <a:ext cx="0" cy="0"/>
          <a:chOff x="0" y="0"/>
          <a:chExt cx="0" cy="0"/>
        </a:xfrm>
      </p:grpSpPr>
      <p:sp>
        <p:nvSpPr>
          <p:cNvPr id="399" name="Google Shape;399;p4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0" name="Google Shape;400;p42"/>
          <p:cNvSpPr/>
          <p:nvPr>
            <p:ph idx="2" type="pic"/>
          </p:nvPr>
        </p:nvSpPr>
        <p:spPr>
          <a:xfrm>
            <a:off x="6205225" y="1128325"/>
            <a:ext cx="2627100" cy="2273100"/>
          </a:xfrm>
          <a:prstGeom prst="rect">
            <a:avLst/>
          </a:prstGeom>
          <a:noFill/>
          <a:ln>
            <a:noFill/>
          </a:ln>
        </p:spPr>
      </p:sp>
      <p:sp>
        <p:nvSpPr>
          <p:cNvPr id="401" name="Google Shape;401;p42"/>
          <p:cNvSpPr/>
          <p:nvPr>
            <p:ph idx="3" type="pic"/>
          </p:nvPr>
        </p:nvSpPr>
        <p:spPr>
          <a:xfrm>
            <a:off x="311725" y="1128325"/>
            <a:ext cx="2627100" cy="2273100"/>
          </a:xfrm>
          <a:prstGeom prst="rect">
            <a:avLst/>
          </a:prstGeom>
          <a:noFill/>
          <a:ln>
            <a:noFill/>
          </a:ln>
        </p:spPr>
      </p:sp>
      <p:sp>
        <p:nvSpPr>
          <p:cNvPr id="402" name="Google Shape;402;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42"/>
          <p:cNvSpPr/>
          <p:nvPr>
            <p:ph idx="5" type="pic"/>
          </p:nvPr>
        </p:nvSpPr>
        <p:spPr>
          <a:xfrm>
            <a:off x="3255250" y="1128325"/>
            <a:ext cx="2627100" cy="2273100"/>
          </a:xfrm>
          <a:prstGeom prst="rect">
            <a:avLst/>
          </a:prstGeom>
          <a:noFill/>
          <a:ln>
            <a:noFill/>
          </a:ln>
        </p:spPr>
      </p:sp>
      <p:sp>
        <p:nvSpPr>
          <p:cNvPr id="404" name="Google Shape;404;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7" name="Google Shape;407;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09" name="Shape 409"/>
        <p:cNvGrpSpPr/>
        <p:nvPr/>
      </p:nvGrpSpPr>
      <p:grpSpPr>
        <a:xfrm>
          <a:off x="0" y="0"/>
          <a:ext cx="0" cy="0"/>
          <a:chOff x="0" y="0"/>
          <a:chExt cx="0" cy="0"/>
        </a:xfrm>
      </p:grpSpPr>
      <p:sp>
        <p:nvSpPr>
          <p:cNvPr id="410" name="Google Shape;410;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1" name="Shape 411"/>
        <p:cNvGrpSpPr/>
        <p:nvPr/>
      </p:nvGrpSpPr>
      <p:grpSpPr>
        <a:xfrm>
          <a:off x="0" y="0"/>
          <a:ext cx="0" cy="0"/>
          <a:chOff x="0" y="0"/>
          <a:chExt cx="0" cy="0"/>
        </a:xfrm>
      </p:grpSpPr>
      <p:sp>
        <p:nvSpPr>
          <p:cNvPr id="412" name="Google Shape;412;p44"/>
          <p:cNvSpPr/>
          <p:nvPr>
            <p:ph idx="2" type="pic"/>
          </p:nvPr>
        </p:nvSpPr>
        <p:spPr>
          <a:xfrm>
            <a:off x="3389600" y="118913"/>
            <a:ext cx="1643700" cy="1535100"/>
          </a:xfrm>
          <a:prstGeom prst="rect">
            <a:avLst/>
          </a:prstGeom>
          <a:noFill/>
          <a:ln>
            <a:noFill/>
          </a:ln>
        </p:spPr>
      </p:sp>
      <p:sp>
        <p:nvSpPr>
          <p:cNvPr id="413" name="Google Shape;413;p44"/>
          <p:cNvSpPr/>
          <p:nvPr>
            <p:ph idx="3" type="pic"/>
          </p:nvPr>
        </p:nvSpPr>
        <p:spPr>
          <a:xfrm>
            <a:off x="5195935" y="118913"/>
            <a:ext cx="1643700" cy="1535100"/>
          </a:xfrm>
          <a:prstGeom prst="rect">
            <a:avLst/>
          </a:prstGeom>
          <a:noFill/>
          <a:ln>
            <a:noFill/>
          </a:ln>
        </p:spPr>
      </p:sp>
      <p:sp>
        <p:nvSpPr>
          <p:cNvPr id="414" name="Google Shape;414;p44"/>
          <p:cNvSpPr/>
          <p:nvPr>
            <p:ph idx="4" type="pic"/>
          </p:nvPr>
        </p:nvSpPr>
        <p:spPr>
          <a:xfrm>
            <a:off x="7002270" y="118913"/>
            <a:ext cx="1643700" cy="1535100"/>
          </a:xfrm>
          <a:prstGeom prst="rect">
            <a:avLst/>
          </a:prstGeom>
          <a:noFill/>
          <a:ln>
            <a:noFill/>
          </a:ln>
        </p:spPr>
      </p:sp>
      <p:sp>
        <p:nvSpPr>
          <p:cNvPr id="415" name="Google Shape;415;p44"/>
          <p:cNvSpPr/>
          <p:nvPr>
            <p:ph idx="5" type="pic"/>
          </p:nvPr>
        </p:nvSpPr>
        <p:spPr>
          <a:xfrm>
            <a:off x="3389588" y="1804212"/>
            <a:ext cx="1643700" cy="1535100"/>
          </a:xfrm>
          <a:prstGeom prst="rect">
            <a:avLst/>
          </a:prstGeom>
          <a:noFill/>
          <a:ln>
            <a:noFill/>
          </a:ln>
        </p:spPr>
      </p:sp>
      <p:sp>
        <p:nvSpPr>
          <p:cNvPr id="416" name="Google Shape;416;p44"/>
          <p:cNvSpPr/>
          <p:nvPr>
            <p:ph idx="6" type="pic"/>
          </p:nvPr>
        </p:nvSpPr>
        <p:spPr>
          <a:xfrm>
            <a:off x="5195922" y="1804212"/>
            <a:ext cx="1643700" cy="1535100"/>
          </a:xfrm>
          <a:prstGeom prst="rect">
            <a:avLst/>
          </a:prstGeom>
          <a:noFill/>
          <a:ln>
            <a:noFill/>
          </a:ln>
        </p:spPr>
      </p:sp>
      <p:sp>
        <p:nvSpPr>
          <p:cNvPr id="417" name="Google Shape;417;p44"/>
          <p:cNvSpPr/>
          <p:nvPr>
            <p:ph idx="7" type="pic"/>
          </p:nvPr>
        </p:nvSpPr>
        <p:spPr>
          <a:xfrm>
            <a:off x="7002257" y="1804212"/>
            <a:ext cx="1643700" cy="1535100"/>
          </a:xfrm>
          <a:prstGeom prst="rect">
            <a:avLst/>
          </a:prstGeom>
          <a:noFill/>
          <a:ln>
            <a:noFill/>
          </a:ln>
        </p:spPr>
      </p:sp>
      <p:sp>
        <p:nvSpPr>
          <p:cNvPr id="418" name="Google Shape;418;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9" name="Google Shape;419;p44"/>
          <p:cNvSpPr/>
          <p:nvPr>
            <p:ph idx="8" type="pic"/>
          </p:nvPr>
        </p:nvSpPr>
        <p:spPr>
          <a:xfrm>
            <a:off x="3389588" y="3489487"/>
            <a:ext cx="1643700" cy="1535100"/>
          </a:xfrm>
          <a:prstGeom prst="rect">
            <a:avLst/>
          </a:prstGeom>
          <a:noFill/>
          <a:ln>
            <a:noFill/>
          </a:ln>
        </p:spPr>
      </p:sp>
      <p:sp>
        <p:nvSpPr>
          <p:cNvPr id="420" name="Google Shape;420;p44"/>
          <p:cNvSpPr/>
          <p:nvPr>
            <p:ph idx="9" type="pic"/>
          </p:nvPr>
        </p:nvSpPr>
        <p:spPr>
          <a:xfrm>
            <a:off x="5195922" y="3489487"/>
            <a:ext cx="1643700" cy="1535100"/>
          </a:xfrm>
          <a:prstGeom prst="rect">
            <a:avLst/>
          </a:prstGeom>
          <a:noFill/>
          <a:ln>
            <a:noFill/>
          </a:ln>
        </p:spPr>
      </p:sp>
      <p:sp>
        <p:nvSpPr>
          <p:cNvPr id="421" name="Google Shape;421;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2.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7" name="Google Shape;7;p1"/>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8" name="Google Shape;8;p1"/>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ata.wprdc.org/datastore/dump/0d99978a-ccf6-4315-af5a-a95acec87a9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5"/>
          <p:cNvSpPr txBox="1"/>
          <p:nvPr>
            <p:ph type="title"/>
          </p:nvPr>
        </p:nvSpPr>
        <p:spPr>
          <a:xfrm>
            <a:off x="1183200" y="75198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Best Foodie  Neighborhood</a:t>
            </a:r>
            <a:endParaRPr/>
          </a:p>
          <a:p>
            <a:pPr indent="0" lvl="0" marL="0" rtl="0" algn="ctr">
              <a:spcBef>
                <a:spcPts val="0"/>
              </a:spcBef>
              <a:spcAft>
                <a:spcPts val="0"/>
              </a:spcAft>
              <a:buNone/>
            </a:pPr>
            <a:r>
              <a:rPr lang="en"/>
              <a:t>in Pittsburgh </a:t>
            </a:r>
            <a:endParaRPr/>
          </a:p>
        </p:txBody>
      </p:sp>
      <p:sp>
        <p:nvSpPr>
          <p:cNvPr id="427" name="Google Shape;427;p45"/>
          <p:cNvSpPr txBox="1"/>
          <p:nvPr>
            <p:ph idx="1" type="subTitle"/>
          </p:nvPr>
        </p:nvSpPr>
        <p:spPr>
          <a:xfrm>
            <a:off x="2398650" y="3654225"/>
            <a:ext cx="4346700" cy="45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By: Pier, Aziz, Rachel</a:t>
            </a:r>
            <a:endParaRPr/>
          </a:p>
        </p:txBody>
      </p:sp>
      <p:sp>
        <p:nvSpPr>
          <p:cNvPr id="428" name="Google Shape;428;p45"/>
          <p:cNvSpPr/>
          <p:nvPr/>
        </p:nvSpPr>
        <p:spPr>
          <a:xfrm rot="-395291">
            <a:off x="3110326" y="3199308"/>
            <a:ext cx="3041752" cy="281119"/>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429" name="Google Shape;429;p45"/>
          <p:cNvSpPr/>
          <p:nvPr/>
        </p:nvSpPr>
        <p:spPr>
          <a:xfrm rot="-509448">
            <a:off x="4276371" y="3322374"/>
            <a:ext cx="1877891" cy="123212"/>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6"/>
          <p:cNvSpPr/>
          <p:nvPr/>
        </p:nvSpPr>
        <p:spPr>
          <a:xfrm>
            <a:off x="3627900" y="9129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35" name="Google Shape;435;p46"/>
          <p:cNvSpPr/>
          <p:nvPr/>
        </p:nvSpPr>
        <p:spPr>
          <a:xfrm>
            <a:off x="3627900" y="16049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436" name="Google Shape;436;p46"/>
          <p:cNvSpPr/>
          <p:nvPr/>
        </p:nvSpPr>
        <p:spPr>
          <a:xfrm>
            <a:off x="3627900" y="22970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cxnSp>
        <p:nvCxnSpPr>
          <p:cNvPr id="437" name="Google Shape;437;p46"/>
          <p:cNvCxnSpPr/>
          <p:nvPr/>
        </p:nvCxnSpPr>
        <p:spPr>
          <a:xfrm>
            <a:off x="4138300" y="145902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38" name="Google Shape;438;p46"/>
          <p:cNvCxnSpPr/>
          <p:nvPr/>
        </p:nvCxnSpPr>
        <p:spPr>
          <a:xfrm>
            <a:off x="4138300" y="215107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439" name="Google Shape;439;p46"/>
          <p:cNvCxnSpPr/>
          <p:nvPr/>
        </p:nvCxnSpPr>
        <p:spPr>
          <a:xfrm>
            <a:off x="4138300" y="2843125"/>
            <a:ext cx="4770000" cy="0"/>
          </a:xfrm>
          <a:prstGeom prst="straightConnector1">
            <a:avLst/>
          </a:prstGeom>
          <a:noFill/>
          <a:ln cap="flat" cmpd="sng" w="9525">
            <a:solidFill>
              <a:schemeClr val="accent6"/>
            </a:solidFill>
            <a:prstDash val="solid"/>
            <a:round/>
            <a:headEnd len="med" w="med" type="none"/>
            <a:tailEnd len="med" w="med" type="none"/>
          </a:ln>
        </p:spPr>
      </p:cxnSp>
      <p:sp>
        <p:nvSpPr>
          <p:cNvPr id="440" name="Google Shape;440;p46"/>
          <p:cNvSpPr txBox="1"/>
          <p:nvPr>
            <p:ph idx="1" type="subTitle"/>
          </p:nvPr>
        </p:nvSpPr>
        <p:spPr>
          <a:xfrm>
            <a:off x="3635000" y="9129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41" name="Google Shape;441;p46"/>
          <p:cNvSpPr txBox="1"/>
          <p:nvPr>
            <p:ph idx="5" type="subTitle"/>
          </p:nvPr>
        </p:nvSpPr>
        <p:spPr>
          <a:xfrm>
            <a:off x="3635000" y="16049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42" name="Google Shape;442;p46"/>
          <p:cNvSpPr txBox="1"/>
          <p:nvPr>
            <p:ph idx="2" type="subTitle"/>
          </p:nvPr>
        </p:nvSpPr>
        <p:spPr>
          <a:xfrm>
            <a:off x="3635000" y="22970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43" name="Google Shape;443;p46"/>
          <p:cNvSpPr txBox="1"/>
          <p:nvPr>
            <p:ph idx="7" type="subTitle"/>
          </p:nvPr>
        </p:nvSpPr>
        <p:spPr>
          <a:xfrm>
            <a:off x="4036750" y="8866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Number of </a:t>
            </a:r>
            <a:r>
              <a:rPr lang="en"/>
              <a:t>Restaurants</a:t>
            </a:r>
            <a:r>
              <a:rPr lang="en"/>
              <a:t> </a:t>
            </a:r>
            <a:endParaRPr/>
          </a:p>
        </p:txBody>
      </p:sp>
      <p:sp>
        <p:nvSpPr>
          <p:cNvPr id="444" name="Google Shape;444;p46"/>
          <p:cNvSpPr txBox="1"/>
          <p:nvPr>
            <p:ph idx="8" type="subTitle"/>
          </p:nvPr>
        </p:nvSpPr>
        <p:spPr>
          <a:xfrm>
            <a:off x="4036750" y="15787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Restaurant Diversity</a:t>
            </a:r>
            <a:endParaRPr/>
          </a:p>
        </p:txBody>
      </p:sp>
      <p:sp>
        <p:nvSpPr>
          <p:cNvPr id="445" name="Google Shape;445;p46"/>
          <p:cNvSpPr txBox="1"/>
          <p:nvPr>
            <p:ph idx="9" type="subTitle"/>
          </p:nvPr>
        </p:nvSpPr>
        <p:spPr>
          <a:xfrm>
            <a:off x="4036750" y="22707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Farmers market and food gardens </a:t>
            </a:r>
            <a:endParaRPr/>
          </a:p>
        </p:txBody>
      </p:sp>
      <p:sp>
        <p:nvSpPr>
          <p:cNvPr id="446" name="Google Shape;446;p46"/>
          <p:cNvSpPr txBox="1"/>
          <p:nvPr>
            <p:ph type="title"/>
          </p:nvPr>
        </p:nvSpPr>
        <p:spPr>
          <a:xfrm>
            <a:off x="228600" y="256925"/>
            <a:ext cx="2926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Methodology</a:t>
            </a:r>
            <a:endParaRPr/>
          </a:p>
        </p:txBody>
      </p:sp>
      <p:sp>
        <p:nvSpPr>
          <p:cNvPr id="447" name="Google Shape;447;p46"/>
          <p:cNvSpPr/>
          <p:nvPr/>
        </p:nvSpPr>
        <p:spPr>
          <a:xfrm rot="188826">
            <a:off x="319974" y="856283"/>
            <a:ext cx="1440087" cy="45350"/>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448" name="Google Shape;448;p46"/>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449" name="Google Shape;449;p46"/>
          <p:cNvSpPr/>
          <p:nvPr/>
        </p:nvSpPr>
        <p:spPr>
          <a:xfrm>
            <a:off x="3635000" y="29890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cxnSp>
        <p:nvCxnSpPr>
          <p:cNvPr id="450" name="Google Shape;450;p46"/>
          <p:cNvCxnSpPr/>
          <p:nvPr/>
        </p:nvCxnSpPr>
        <p:spPr>
          <a:xfrm>
            <a:off x="4145400" y="3535175"/>
            <a:ext cx="4770000" cy="0"/>
          </a:xfrm>
          <a:prstGeom prst="straightConnector1">
            <a:avLst/>
          </a:prstGeom>
          <a:noFill/>
          <a:ln cap="flat" cmpd="sng" w="9525">
            <a:solidFill>
              <a:schemeClr val="accent6"/>
            </a:solidFill>
            <a:prstDash val="solid"/>
            <a:round/>
            <a:headEnd len="med" w="med" type="none"/>
            <a:tailEnd len="med" w="med" type="none"/>
          </a:ln>
        </p:spPr>
      </p:cxnSp>
      <p:sp>
        <p:nvSpPr>
          <p:cNvPr id="451" name="Google Shape;451;p46"/>
          <p:cNvSpPr txBox="1"/>
          <p:nvPr>
            <p:ph idx="2" type="subTitle"/>
          </p:nvPr>
        </p:nvSpPr>
        <p:spPr>
          <a:xfrm>
            <a:off x="3642100" y="29890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52" name="Google Shape;452;p46"/>
          <p:cNvSpPr txBox="1"/>
          <p:nvPr>
            <p:ph idx="9" type="subTitle"/>
          </p:nvPr>
        </p:nvSpPr>
        <p:spPr>
          <a:xfrm>
            <a:off x="4043850" y="29628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Combined Score </a:t>
            </a:r>
            <a:endParaRPr/>
          </a:p>
        </p:txBody>
      </p:sp>
      <p:sp>
        <p:nvSpPr>
          <p:cNvPr id="453" name="Google Shape;453;p46"/>
          <p:cNvSpPr txBox="1"/>
          <p:nvPr>
            <p:ph type="title"/>
          </p:nvPr>
        </p:nvSpPr>
        <p:spPr>
          <a:xfrm>
            <a:off x="3642100" y="256925"/>
            <a:ext cx="52734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Defining the "Foodie" Metric</a:t>
            </a:r>
            <a:r>
              <a:rPr lang="en"/>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7"/>
          <p:cNvSpPr txBox="1"/>
          <p:nvPr>
            <p:ph type="title"/>
          </p:nvPr>
        </p:nvSpPr>
        <p:spPr>
          <a:xfrm>
            <a:off x="228600" y="228600"/>
            <a:ext cx="85440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Measuring Foodie-Friendliness Through Restaurant Density </a:t>
            </a:r>
            <a:endParaRPr/>
          </a:p>
        </p:txBody>
      </p:sp>
      <p:sp>
        <p:nvSpPr>
          <p:cNvPr id="459" name="Google Shape;459;p47"/>
          <p:cNvSpPr txBox="1"/>
          <p:nvPr>
            <p:ph idx="1" type="body"/>
          </p:nvPr>
        </p:nvSpPr>
        <p:spPr>
          <a:xfrm>
            <a:off x="228600" y="1179250"/>
            <a:ext cx="7950900" cy="3504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n" sz="1700"/>
              <a:t>What we're measuring</a:t>
            </a:r>
            <a:r>
              <a:rPr b="1" lang="en"/>
              <a:t>:</a:t>
            </a:r>
            <a:r>
              <a:rPr lang="en"/>
              <a:t> Restaurants per square mile </a:t>
            </a:r>
            <a:endParaRPr/>
          </a:p>
          <a:p>
            <a:pPr indent="-330200" lvl="0" marL="457200" rtl="0" algn="l">
              <a:spcBef>
                <a:spcPts val="0"/>
              </a:spcBef>
              <a:spcAft>
                <a:spcPts val="0"/>
              </a:spcAft>
              <a:buSzPts val="1600"/>
              <a:buChar char="●"/>
            </a:pPr>
            <a:r>
              <a:rPr b="1" lang="en" sz="1700"/>
              <a:t>Why density:</a:t>
            </a:r>
            <a:r>
              <a:rPr lang="en"/>
              <a:t> Foodies care about walkable variety, not residential service. Density rewards walkable destinations like the Strip District, where few people live but many great restaurants are packed together.</a:t>
            </a:r>
            <a:endParaRPr/>
          </a:p>
          <a:p>
            <a:pPr indent="-330200" lvl="0" marL="457200" rtl="0" algn="l">
              <a:spcBef>
                <a:spcPts val="0"/>
              </a:spcBef>
              <a:spcAft>
                <a:spcPts val="0"/>
              </a:spcAft>
              <a:buSzPts val="1600"/>
              <a:buChar char="●"/>
            </a:pPr>
            <a:r>
              <a:rPr b="1" lang="en" sz="1700"/>
              <a:t>Data source</a:t>
            </a:r>
            <a:r>
              <a:rPr lang="en"/>
              <a:t>: Allegheny County Restaurant/Food Facility Inspection Violations dataset (WPRDC)</a:t>
            </a:r>
            <a:endParaRPr/>
          </a:p>
          <a:p>
            <a:pPr indent="-330200" lvl="1" marL="914400" rtl="0" algn="l">
              <a:spcBef>
                <a:spcPts val="0"/>
              </a:spcBef>
              <a:spcAft>
                <a:spcPts val="0"/>
              </a:spcAft>
              <a:buSzPts val="1600"/>
              <a:buChar char="○"/>
            </a:pPr>
            <a:r>
              <a:rPr b="1" lang="en"/>
              <a:t>What we kept:</a:t>
            </a:r>
            <a:r>
              <a:rPr lang="en"/>
              <a:t> Restaurants, bakeries, bars, supermarkets, and food processors</a:t>
            </a:r>
            <a:endParaRPr/>
          </a:p>
          <a:p>
            <a:pPr indent="-330200" lvl="1" marL="914400" rtl="0" algn="l">
              <a:spcBef>
                <a:spcPts val="0"/>
              </a:spcBef>
              <a:spcAft>
                <a:spcPts val="0"/>
              </a:spcAft>
              <a:buSzPts val="1600"/>
              <a:buChar char="○"/>
            </a:pPr>
            <a:r>
              <a:rPr b="1" lang="en" sz="1700"/>
              <a:t>What we filtered out</a:t>
            </a:r>
            <a:r>
              <a:rPr lang="en"/>
              <a:t>: School cafeterias, hospital kitchens, nursing homes, convenience stores, institutional and pre-packaged food facilities, and any establishment with a recorded close date.</a:t>
            </a:r>
            <a:endParaRPr/>
          </a:p>
          <a:p>
            <a:pPr indent="-330200" lvl="0" marL="457200" rtl="0" algn="l">
              <a:spcBef>
                <a:spcPts val="0"/>
              </a:spcBef>
              <a:spcAft>
                <a:spcPts val="0"/>
              </a:spcAft>
              <a:buSzPts val="1600"/>
              <a:buChar char="●"/>
            </a:pPr>
            <a:r>
              <a:rPr b="1" lang="en" sz="1700"/>
              <a:t>How we computed it</a:t>
            </a:r>
            <a:r>
              <a:rPr lang="en"/>
              <a:t>: Spatially joined each active restaurant's coordinates to Pittsburgh's neighborhood map, counted by neighborhood, divided by area in square miles, then normalized to a 0-100 score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8"/>
          <p:cNvSpPr txBox="1"/>
          <p:nvPr>
            <p:ph type="title"/>
          </p:nvPr>
        </p:nvSpPr>
        <p:spPr>
          <a:xfrm>
            <a:off x="228600" y="228600"/>
            <a:ext cx="80421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Results — Foodie Score Across Pittsburgh </a:t>
            </a:r>
            <a:endParaRPr/>
          </a:p>
        </p:txBody>
      </p:sp>
      <p:sp>
        <p:nvSpPr>
          <p:cNvPr id="465" name="Google Shape;465;p48"/>
          <p:cNvSpPr txBox="1"/>
          <p:nvPr>
            <p:ph idx="1" type="body"/>
          </p:nvPr>
        </p:nvSpPr>
        <p:spPr>
          <a:xfrm>
            <a:off x="-36700" y="4454075"/>
            <a:ext cx="6924300" cy="4593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a:t>Score = restaurants per square mile, normalized 0-100 </a:t>
            </a:r>
            <a:endParaRPr/>
          </a:p>
        </p:txBody>
      </p:sp>
      <p:pic>
        <p:nvPicPr>
          <p:cNvPr id="466" name="Google Shape;466;p48"/>
          <p:cNvPicPr preferRelativeResize="0"/>
          <p:nvPr/>
        </p:nvPicPr>
        <p:blipFill rotWithShape="1">
          <a:blip r:embed="rId3">
            <a:alphaModFix/>
          </a:blip>
          <a:srcRect b="5455" l="0" r="0" t="0"/>
          <a:stretch/>
        </p:blipFill>
        <p:spPr>
          <a:xfrm>
            <a:off x="-36700" y="934375"/>
            <a:ext cx="4920776" cy="3128725"/>
          </a:xfrm>
          <a:prstGeom prst="rect">
            <a:avLst/>
          </a:prstGeom>
          <a:noFill/>
          <a:ln>
            <a:noFill/>
          </a:ln>
        </p:spPr>
      </p:pic>
      <p:pic>
        <p:nvPicPr>
          <p:cNvPr id="467" name="Google Shape;467;p48"/>
          <p:cNvPicPr preferRelativeResize="0"/>
          <p:nvPr/>
        </p:nvPicPr>
        <p:blipFill>
          <a:blip r:embed="rId4">
            <a:alphaModFix/>
          </a:blip>
          <a:stretch>
            <a:fillRect/>
          </a:stretch>
        </p:blipFill>
        <p:spPr>
          <a:xfrm>
            <a:off x="4884075" y="934375"/>
            <a:ext cx="4230526" cy="3128725"/>
          </a:xfrm>
          <a:prstGeom prst="rect">
            <a:avLst/>
          </a:prstGeom>
          <a:noFill/>
          <a:ln>
            <a:noFill/>
          </a:ln>
        </p:spPr>
      </p:pic>
      <p:pic>
        <p:nvPicPr>
          <p:cNvPr id="468" name="Google Shape;468;p48"/>
          <p:cNvPicPr preferRelativeResize="0"/>
          <p:nvPr/>
        </p:nvPicPr>
        <p:blipFill>
          <a:blip r:embed="rId5">
            <a:alphaModFix/>
          </a:blip>
          <a:stretch>
            <a:fillRect/>
          </a:stretch>
        </p:blipFill>
        <p:spPr>
          <a:xfrm>
            <a:off x="5450400" y="4527900"/>
            <a:ext cx="3693601" cy="615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9"/>
          <p:cNvSpPr txBox="1"/>
          <p:nvPr>
            <p:ph type="title"/>
          </p:nvPr>
        </p:nvSpPr>
        <p:spPr>
          <a:xfrm>
            <a:off x="228600" y="228600"/>
            <a:ext cx="85440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Measuring Foodie-Friendliness Through Restaurant Diversity</a:t>
            </a:r>
            <a:endParaRPr/>
          </a:p>
        </p:txBody>
      </p:sp>
      <p:sp>
        <p:nvSpPr>
          <p:cNvPr id="474" name="Google Shape;474;p49"/>
          <p:cNvSpPr txBox="1"/>
          <p:nvPr>
            <p:ph idx="1" type="body"/>
          </p:nvPr>
        </p:nvSpPr>
        <p:spPr>
          <a:xfrm>
            <a:off x="228600" y="1179250"/>
            <a:ext cx="7950900" cy="3504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n" sz="2000"/>
              <a:t>What we're measuring:</a:t>
            </a:r>
            <a:r>
              <a:rPr lang="en" sz="2000"/>
              <a:t> Diversity of food facilities per neighborhood</a:t>
            </a:r>
            <a:endParaRPr sz="2000"/>
          </a:p>
          <a:p>
            <a:pPr indent="-355600" lvl="0" marL="457200" rtl="0" algn="l">
              <a:spcBef>
                <a:spcPts val="0"/>
              </a:spcBef>
              <a:spcAft>
                <a:spcPts val="0"/>
              </a:spcAft>
              <a:buSzPts val="2000"/>
              <a:buChar char="●"/>
            </a:pPr>
            <a:r>
              <a:rPr b="1" lang="en" sz="2000"/>
              <a:t>Why diversity</a:t>
            </a:r>
            <a:r>
              <a:rPr lang="en" sz="2000"/>
              <a:t>: Foodies value not only number of restaurants available, but the diversity of restaurants as well. The best foodie neighborhood will have a good mix of restaurants, chains, food trucks, and more. </a:t>
            </a:r>
            <a:endParaRPr sz="2000"/>
          </a:p>
          <a:p>
            <a:pPr indent="-355600" lvl="0" marL="457200" rtl="0" algn="l">
              <a:spcBef>
                <a:spcPts val="0"/>
              </a:spcBef>
              <a:spcAft>
                <a:spcPts val="0"/>
              </a:spcAft>
              <a:buSzPts val="2000"/>
              <a:buChar char="●"/>
            </a:pPr>
            <a:r>
              <a:rPr b="1" lang="en" sz="2000"/>
              <a:t>Data source</a:t>
            </a:r>
            <a:r>
              <a:rPr lang="en" sz="2000"/>
              <a:t>: Allegheny County Geocoded Food Facilities (WPRDC)</a:t>
            </a:r>
            <a:endParaRPr sz="2000"/>
          </a:p>
          <a:p>
            <a:pPr indent="-355600" lvl="1" marL="914400" rtl="0" algn="l">
              <a:spcBef>
                <a:spcPts val="0"/>
              </a:spcBef>
              <a:spcAft>
                <a:spcPts val="0"/>
              </a:spcAft>
              <a:buSzPts val="2000"/>
              <a:buChar char="○"/>
            </a:pPr>
            <a:r>
              <a:rPr b="1" lang="en" sz="2000"/>
              <a:t>What we kept:</a:t>
            </a:r>
            <a:r>
              <a:rPr lang="en" sz="2000"/>
              <a:t> Active restaurants, bakeries, bars, supermarkets, and convenience stores.</a:t>
            </a:r>
            <a:endParaRPr sz="2000"/>
          </a:p>
          <a:p>
            <a:pPr indent="-355600" lvl="1" marL="914400" rtl="0" algn="l">
              <a:spcBef>
                <a:spcPts val="0"/>
              </a:spcBef>
              <a:spcAft>
                <a:spcPts val="0"/>
              </a:spcAft>
              <a:buSzPts val="2000"/>
              <a:buChar char="○"/>
            </a:pPr>
            <a:r>
              <a:rPr b="1" lang="en" sz="2000"/>
              <a:t>What we filtered out</a:t>
            </a:r>
            <a:r>
              <a:rPr lang="en" sz="2000"/>
              <a:t>: School cafeterias, hospital kitchens, nursing homes, and any inactive facility.</a:t>
            </a:r>
            <a:endParaRPr sz="2000"/>
          </a:p>
          <a:p>
            <a:pPr indent="0" lvl="0" marL="457200" rtl="0" algn="l">
              <a:spcBef>
                <a:spcPts val="800"/>
              </a:spcBef>
              <a:spcAft>
                <a:spcPts val="8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0"/>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How We Computed Diversity</a:t>
            </a:r>
            <a:endParaRPr/>
          </a:p>
        </p:txBody>
      </p:sp>
      <p:sp>
        <p:nvSpPr>
          <p:cNvPr id="480" name="Google Shape;480;p50"/>
          <p:cNvSpPr txBox="1"/>
          <p:nvPr>
            <p:ph idx="1" type="body"/>
          </p:nvPr>
        </p:nvSpPr>
        <p:spPr>
          <a:xfrm>
            <a:off x="228600" y="971400"/>
            <a:ext cx="8686800" cy="236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Each facility was given a weight based on its appeal to a foodie: 1.25 for non-chain restaurants, 1 for restaurants, 0.75 for supermarkets/bar/food trucks, and 0.5 for convenience stores. </a:t>
            </a:r>
            <a:endParaRPr/>
          </a:p>
          <a:p>
            <a:pPr indent="-330200" lvl="0" marL="457200" rtl="0" algn="l">
              <a:spcBef>
                <a:spcPts val="0"/>
              </a:spcBef>
              <a:spcAft>
                <a:spcPts val="0"/>
              </a:spcAft>
              <a:buSzPts val="1600"/>
              <a:buChar char="●"/>
            </a:pPr>
            <a:r>
              <a:rPr lang="en"/>
              <a:t>Weights were summed per neighborhood and weighted proportion was calculated (facility type total weight / neighborhood total weight)</a:t>
            </a:r>
            <a:endParaRPr/>
          </a:p>
          <a:p>
            <a:pPr indent="-330200" lvl="0" marL="457200" rtl="0" algn="l">
              <a:spcBef>
                <a:spcPts val="0"/>
              </a:spcBef>
              <a:spcAft>
                <a:spcPts val="0"/>
              </a:spcAft>
              <a:buSzPts val="1600"/>
              <a:buChar char="●"/>
            </a:pPr>
            <a:r>
              <a:rPr lang="en"/>
              <a:t>Shannon Index applied</a:t>
            </a:r>
            <a:endParaRPr/>
          </a:p>
          <a:p>
            <a:pPr indent="-330200" lvl="0" marL="457200" rtl="0" algn="l">
              <a:spcBef>
                <a:spcPts val="0"/>
              </a:spcBef>
              <a:spcAft>
                <a:spcPts val="0"/>
              </a:spcAft>
              <a:buSzPts val="1600"/>
              <a:buChar char="●"/>
            </a:pPr>
            <a:r>
              <a:rPr lang="en"/>
              <a:t>Normalized to 0-100</a:t>
            </a:r>
            <a:endParaRPr/>
          </a:p>
          <a:p>
            <a:pPr indent="-330200" lvl="0" marL="457200" rtl="0" algn="l">
              <a:spcBef>
                <a:spcPts val="0"/>
              </a:spcBef>
              <a:spcAft>
                <a:spcPts val="0"/>
              </a:spcAft>
              <a:buSzPts val="1600"/>
              <a:buChar char="●"/>
            </a:pPr>
            <a:r>
              <a:rPr lang="en"/>
              <a:t>Filtered to neighborhoods with 25+ facilities</a:t>
            </a:r>
            <a:endParaRPr/>
          </a:p>
        </p:txBody>
      </p:sp>
      <p:sp>
        <p:nvSpPr>
          <p:cNvPr id="481" name="Google Shape;481;p50"/>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482" name="Google Shape;482;p50" title="Screenshot 2026-04-29 at 10.41.50 PM.png"/>
          <p:cNvPicPr preferRelativeResize="0"/>
          <p:nvPr/>
        </p:nvPicPr>
        <p:blipFill>
          <a:blip r:embed="rId3">
            <a:alphaModFix/>
          </a:blip>
          <a:stretch>
            <a:fillRect/>
          </a:stretch>
        </p:blipFill>
        <p:spPr>
          <a:xfrm>
            <a:off x="1678913" y="3337800"/>
            <a:ext cx="5692271" cy="1575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1"/>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Results - Diversity</a:t>
            </a:r>
            <a:endParaRPr/>
          </a:p>
        </p:txBody>
      </p:sp>
      <p:sp>
        <p:nvSpPr>
          <p:cNvPr id="488" name="Google Shape;488;p51"/>
          <p:cNvSpPr txBox="1"/>
          <p:nvPr>
            <p:ph idx="1" type="body"/>
          </p:nvPr>
        </p:nvSpPr>
        <p:spPr>
          <a:xfrm>
            <a:off x="268400" y="1298992"/>
            <a:ext cx="3784500" cy="10467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a:t>Scored based on the neighborhood with most diverse set of food facilities (filtered to neighborhoods with 25+)</a:t>
            </a:r>
            <a:endParaRPr/>
          </a:p>
        </p:txBody>
      </p:sp>
      <p:sp>
        <p:nvSpPr>
          <p:cNvPr id="489" name="Google Shape;489;p51"/>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490" name="Google Shape;490;p51" title="Screenshot 2026-04-29 at 10.45.19 PM.png"/>
          <p:cNvPicPr preferRelativeResize="0"/>
          <p:nvPr/>
        </p:nvPicPr>
        <p:blipFill>
          <a:blip r:embed="rId3">
            <a:alphaModFix/>
          </a:blip>
          <a:stretch>
            <a:fillRect/>
          </a:stretch>
        </p:blipFill>
        <p:spPr>
          <a:xfrm>
            <a:off x="228600" y="2458978"/>
            <a:ext cx="3824274" cy="1886525"/>
          </a:xfrm>
          <a:prstGeom prst="rect">
            <a:avLst/>
          </a:prstGeom>
          <a:noFill/>
          <a:ln>
            <a:noFill/>
          </a:ln>
        </p:spPr>
      </p:pic>
      <p:pic>
        <p:nvPicPr>
          <p:cNvPr id="491" name="Google Shape;491;p51" title="Screenshot 2026-04-29 at 10.45.33 PM.png"/>
          <p:cNvPicPr preferRelativeResize="0"/>
          <p:nvPr/>
        </p:nvPicPr>
        <p:blipFill>
          <a:blip r:embed="rId4">
            <a:alphaModFix/>
          </a:blip>
          <a:stretch>
            <a:fillRect/>
          </a:stretch>
        </p:blipFill>
        <p:spPr>
          <a:xfrm>
            <a:off x="4205274" y="996600"/>
            <a:ext cx="4786327" cy="33643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2"/>
          <p:cNvSpPr txBox="1"/>
          <p:nvPr>
            <p:ph type="title"/>
          </p:nvPr>
        </p:nvSpPr>
        <p:spPr>
          <a:xfrm>
            <a:off x="228600" y="228600"/>
            <a:ext cx="85440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Measuring Foodie-Friendliness Through Access to Farmers Markets and Stands</a:t>
            </a:r>
            <a:endParaRPr/>
          </a:p>
        </p:txBody>
      </p:sp>
      <p:sp>
        <p:nvSpPr>
          <p:cNvPr id="497" name="Google Shape;497;p52"/>
          <p:cNvSpPr txBox="1"/>
          <p:nvPr>
            <p:ph idx="1" type="body"/>
          </p:nvPr>
        </p:nvSpPr>
        <p:spPr>
          <a:xfrm>
            <a:off x="228600" y="1179250"/>
            <a:ext cx="7950900" cy="3504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n" sz="1700"/>
              <a:t>Why fresh food access: </a:t>
            </a:r>
            <a:r>
              <a:rPr lang="en" sz="1700"/>
              <a:t>A true food culture isn't just about eating out, it's also about proximity to fresh, local ingredients. Farmers' markets and community gardens signal neighborhoods that invest in real food beyond restaurants.</a:t>
            </a:r>
            <a:endParaRPr sz="1700"/>
          </a:p>
          <a:p>
            <a:pPr indent="-330200" lvl="0" marL="457200" rtl="0" algn="l">
              <a:spcBef>
                <a:spcPts val="0"/>
              </a:spcBef>
              <a:spcAft>
                <a:spcPts val="0"/>
              </a:spcAft>
              <a:buSzPts val="1600"/>
              <a:buChar char="●"/>
            </a:pPr>
            <a:r>
              <a:rPr b="1" lang="en" sz="1700"/>
              <a:t>What we're measuring</a:t>
            </a:r>
            <a:r>
              <a:rPr b="1" lang="en"/>
              <a:t>:</a:t>
            </a:r>
            <a:r>
              <a:rPr lang="en"/>
              <a:t> </a:t>
            </a:r>
            <a:r>
              <a:rPr lang="en"/>
              <a:t>Farmers Markets per neighborhood. </a:t>
            </a:r>
            <a:endParaRPr/>
          </a:p>
          <a:p>
            <a:pPr indent="-330200" lvl="0" marL="457200" rtl="0" algn="l">
              <a:spcBef>
                <a:spcPts val="0"/>
              </a:spcBef>
              <a:spcAft>
                <a:spcPts val="0"/>
              </a:spcAft>
              <a:buSzPts val="1600"/>
              <a:buChar char="●"/>
            </a:pPr>
            <a:r>
              <a:rPr b="1" lang="en" sz="1700"/>
              <a:t>Data source</a:t>
            </a:r>
            <a:r>
              <a:rPr lang="en"/>
              <a:t>: Allegheny County </a:t>
            </a:r>
            <a:r>
              <a:rPr lang="en"/>
              <a:t>Allegheny County Farmers Market Nutrition Program</a:t>
            </a:r>
            <a:endParaRPr/>
          </a:p>
          <a:p>
            <a:pPr indent="-330200" lvl="1" marL="914400" rtl="0" algn="l">
              <a:spcBef>
                <a:spcPts val="0"/>
              </a:spcBef>
              <a:spcAft>
                <a:spcPts val="0"/>
              </a:spcAft>
              <a:buSzPts val="1600"/>
              <a:buChar char="○"/>
            </a:pPr>
            <a:r>
              <a:rPr lang="en" u="sng">
                <a:solidFill>
                  <a:schemeClr val="hlink"/>
                </a:solidFill>
                <a:hlinkClick r:id="rId3"/>
              </a:rPr>
              <a:t>https://data.wprdc.org/datastore/dump/0d99978a-ccf6-4315-af5a-a95acec87a9f</a:t>
            </a:r>
            <a:endParaRPr/>
          </a:p>
          <a:p>
            <a:pPr indent="-330200" lvl="0" marL="457200" rtl="0" algn="l">
              <a:spcBef>
                <a:spcPts val="0"/>
              </a:spcBef>
              <a:spcAft>
                <a:spcPts val="0"/>
              </a:spcAft>
              <a:buSzPts val="1600"/>
              <a:buChar char="●"/>
            </a:pPr>
            <a:r>
              <a:rPr b="1" lang="en" sz="1700"/>
              <a:t>How we computed it</a:t>
            </a:r>
            <a:r>
              <a:rPr lang="en"/>
              <a:t>: </a:t>
            </a:r>
            <a:r>
              <a:rPr lang="en"/>
              <a:t>Spatially joined each active farmers market and farm stand coordinates to Pittsburgh's neighborhood map. From there we counted total locations per neighborhood to provide an accurate reflection of urban food resource distribution. The neighborhood with the most locations being the best.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3"/>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Results - Fresh Food Access</a:t>
            </a:r>
            <a:endParaRPr/>
          </a:p>
        </p:txBody>
      </p:sp>
      <p:sp>
        <p:nvSpPr>
          <p:cNvPr id="503" name="Google Shape;503;p53"/>
          <p:cNvSpPr txBox="1"/>
          <p:nvPr>
            <p:ph idx="1" type="body"/>
          </p:nvPr>
        </p:nvSpPr>
        <p:spPr>
          <a:xfrm>
            <a:off x="268400" y="1298988"/>
            <a:ext cx="3351600" cy="30465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a:t>Scored based on the amount of locations per neighborhood. (Most locations = best)</a:t>
            </a:r>
            <a:endParaRPr/>
          </a:p>
        </p:txBody>
      </p:sp>
      <p:sp>
        <p:nvSpPr>
          <p:cNvPr id="504" name="Google Shape;504;p53"/>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05" name="Google Shape;505;p53"/>
          <p:cNvPicPr preferRelativeResize="0"/>
          <p:nvPr/>
        </p:nvPicPr>
        <p:blipFill>
          <a:blip r:embed="rId3">
            <a:alphaModFix/>
          </a:blip>
          <a:stretch>
            <a:fillRect/>
          </a:stretch>
        </p:blipFill>
        <p:spPr>
          <a:xfrm>
            <a:off x="4553665" y="1336625"/>
            <a:ext cx="4310471" cy="2524900"/>
          </a:xfrm>
          <a:prstGeom prst="rect">
            <a:avLst/>
          </a:prstGeom>
          <a:noFill/>
          <a:ln>
            <a:noFill/>
          </a:ln>
        </p:spPr>
      </p:pic>
      <p:pic>
        <p:nvPicPr>
          <p:cNvPr id="506" name="Google Shape;506;p53"/>
          <p:cNvPicPr preferRelativeResize="0"/>
          <p:nvPr/>
        </p:nvPicPr>
        <p:blipFill>
          <a:blip r:embed="rId4">
            <a:alphaModFix/>
          </a:blip>
          <a:stretch>
            <a:fillRect/>
          </a:stretch>
        </p:blipFill>
        <p:spPr>
          <a:xfrm>
            <a:off x="228600" y="2459525"/>
            <a:ext cx="3916275" cy="1402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4"/>
          <p:cNvSpPr txBox="1"/>
          <p:nvPr>
            <p:ph type="title"/>
          </p:nvPr>
        </p:nvSpPr>
        <p:spPr>
          <a:xfrm>
            <a:off x="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Conclusion</a:t>
            </a:r>
            <a:endParaRPr/>
          </a:p>
        </p:txBody>
      </p:sp>
      <p:sp>
        <p:nvSpPr>
          <p:cNvPr id="512" name="Google Shape;512;p54"/>
          <p:cNvSpPr txBox="1"/>
          <p:nvPr>
            <p:ph idx="1" type="body"/>
          </p:nvPr>
        </p:nvSpPr>
        <p:spPr>
          <a:xfrm>
            <a:off x="0" y="751225"/>
            <a:ext cx="5852100" cy="3046500"/>
          </a:xfrm>
          <a:prstGeom prst="rect">
            <a:avLst/>
          </a:prstGeom>
        </p:spPr>
        <p:txBody>
          <a:bodyPr anchorCtr="0" anchor="t" bIns="91425" lIns="91425" spcFirstLastPara="1" rIns="91425" wrap="square" tIns="91425">
            <a:noAutofit/>
          </a:bodyPr>
          <a:lstStyle/>
          <a:p>
            <a:pPr indent="0" lvl="0" marL="0" rtl="0" algn="l">
              <a:spcBef>
                <a:spcPts val="0"/>
              </a:spcBef>
              <a:spcAft>
                <a:spcPts val="800"/>
              </a:spcAft>
              <a:buNone/>
            </a:pPr>
            <a:r>
              <a:rPr lang="en"/>
              <a:t>Combined Metric: We ranked each neighborhood within all three metrics (restaurant density, diversity, and fresh food access), then computed a weighted average rank with restaurants and diversity each weighted at 40% and fresh food access at 20%. The neighborhood with the lowest average rank is the most foodie-friendly.</a:t>
            </a:r>
            <a:endParaRPr b="1"/>
          </a:p>
        </p:txBody>
      </p:sp>
      <p:sp>
        <p:nvSpPr>
          <p:cNvPr id="513" name="Google Shape;513;p54"/>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14" name="Google Shape;514;p54"/>
          <p:cNvPicPr preferRelativeResize="0"/>
          <p:nvPr/>
        </p:nvPicPr>
        <p:blipFill>
          <a:blip r:embed="rId3">
            <a:alphaModFix/>
          </a:blip>
          <a:stretch>
            <a:fillRect/>
          </a:stretch>
        </p:blipFill>
        <p:spPr>
          <a:xfrm>
            <a:off x="-1" y="3017700"/>
            <a:ext cx="6520750" cy="2016450"/>
          </a:xfrm>
          <a:prstGeom prst="rect">
            <a:avLst/>
          </a:prstGeom>
          <a:noFill/>
          <a:ln>
            <a:noFill/>
          </a:ln>
        </p:spPr>
      </p:pic>
      <p:pic>
        <p:nvPicPr>
          <p:cNvPr id="515" name="Google Shape;515;p54"/>
          <p:cNvPicPr preferRelativeResize="0"/>
          <p:nvPr/>
        </p:nvPicPr>
        <p:blipFill rotWithShape="1">
          <a:blip r:embed="rId4">
            <a:alphaModFix/>
          </a:blip>
          <a:srcRect b="30076" l="12793" r="14968" t="11444"/>
          <a:stretch/>
        </p:blipFill>
        <p:spPr>
          <a:xfrm>
            <a:off x="5707200" y="0"/>
            <a:ext cx="3436800" cy="23418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5"/>
          <p:cNvSpPr/>
          <p:nvPr/>
        </p:nvSpPr>
        <p:spPr>
          <a:xfrm>
            <a:off x="3448117" y="3693650"/>
            <a:ext cx="22479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Nunito Sans SemiBold"/>
              <a:ea typeface="Nunito Sans SemiBold"/>
              <a:cs typeface="Nunito Sans SemiBold"/>
              <a:sym typeface="Nunito Sans SemiBold"/>
            </a:endParaRPr>
          </a:p>
        </p:txBody>
      </p:sp>
      <p:sp>
        <p:nvSpPr>
          <p:cNvPr id="521" name="Google Shape;521;p55"/>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522" name="Google Shape;522;p55"/>
          <p:cNvSpPr/>
          <p:nvPr/>
        </p:nvSpPr>
        <p:spPr>
          <a:xfrm>
            <a:off x="5282039" y="2736692"/>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dk2"/>
            </a:solidFill>
            <a:prstDash val="solid"/>
            <a:round/>
            <a:headEnd len="med" w="med" type="none"/>
            <a:tailEnd len="med" w="med" type="none"/>
          </a:ln>
        </p:spPr>
      </p:sp>
      <p:sp>
        <p:nvSpPr>
          <p:cNvPr id="523" name="Google Shape;523;p5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